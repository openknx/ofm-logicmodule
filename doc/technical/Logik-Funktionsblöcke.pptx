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C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8" autoAdjust="0"/>
    <p:restoredTop sz="94660"/>
  </p:normalViewPr>
  <p:slideViewPr>
    <p:cSldViewPr snapToGrid="0">
      <p:cViewPr>
        <p:scale>
          <a:sx n="125" d="100"/>
          <a:sy n="125" d="100"/>
        </p:scale>
        <p:origin x="125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754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321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8911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023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674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52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285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3121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9443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2902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6777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90577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9484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2164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8162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2527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1052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8572AA-8960-4D24-ADDF-4869013BD8B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99C00-FF65-457B-8C07-E9FE2B88F3C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455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108DCC8D-159D-BD69-ADAD-80A0E51028A5}"/>
              </a:ext>
            </a:extLst>
          </p:cNvPr>
          <p:cNvSpPr txBox="1"/>
          <p:nvPr/>
        </p:nvSpPr>
        <p:spPr>
          <a:xfrm>
            <a:off x="336589" y="263661"/>
            <a:ext cx="371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Übersicht Logik-Funktionsblöcke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64B809CB-4D1C-B606-F383-93FF1EC580FA}"/>
              </a:ext>
            </a:extLst>
          </p:cNvPr>
          <p:cNvSpPr/>
          <p:nvPr/>
        </p:nvSpPr>
        <p:spPr>
          <a:xfrm>
            <a:off x="2804662" y="948994"/>
            <a:ext cx="4768588" cy="355007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Rein binäre Verarbeitung (DPT 1)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D99D9BBC-1B75-0E4D-D318-E4986759CD09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3935407" y="4199003"/>
            <a:ext cx="194124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086DC5BC-DCA6-F2B6-90A3-288354DE9DDC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941247" y="2585954"/>
            <a:ext cx="194124" cy="1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62DB68D6-4376-B624-9445-F38BD450702F}"/>
              </a:ext>
            </a:extLst>
          </p:cNvPr>
          <p:cNvSpPr/>
          <p:nvPr/>
        </p:nvSpPr>
        <p:spPr>
          <a:xfrm>
            <a:off x="4135371" y="1228209"/>
            <a:ext cx="3240252" cy="318671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Signalverarbeitung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3F399C6-D9B9-C105-9256-70D98898CD92}"/>
              </a:ext>
            </a:extLst>
          </p:cNvPr>
          <p:cNvSpPr/>
          <p:nvPr/>
        </p:nvSpPr>
        <p:spPr>
          <a:xfrm>
            <a:off x="4223374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Treppenlicht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Blinken 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CF10A7D-6A9B-2F55-C12C-FB70DAB885F4}"/>
              </a:ext>
            </a:extLst>
          </p:cNvPr>
          <p:cNvSpPr/>
          <p:nvPr/>
        </p:nvSpPr>
        <p:spPr>
          <a:xfrm>
            <a:off x="4873893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Ein-/Ausschaltverzögerung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B0C56E48-6132-4FA0-96CF-0E7552B747BA}"/>
              </a:ext>
            </a:extLst>
          </p:cNvPr>
          <p:cNvSpPr/>
          <p:nvPr/>
        </p:nvSpPr>
        <p:spPr>
          <a:xfrm>
            <a:off x="5524412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Wiederholungsfilter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B2E687D-14E0-0E62-03C3-B1D0185D0914}"/>
              </a:ext>
            </a:extLst>
          </p:cNvPr>
          <p:cNvSpPr/>
          <p:nvPr/>
        </p:nvSpPr>
        <p:spPr>
          <a:xfrm>
            <a:off x="6174931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Zyklisch senden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BADA4AB-18AB-4EA9-40F9-A59F6853EC2A}"/>
              </a:ext>
            </a:extLst>
          </p:cNvPr>
          <p:cNvSpPr/>
          <p:nvPr/>
        </p:nvSpPr>
        <p:spPr>
          <a:xfrm>
            <a:off x="6825450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Sperre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6B04420C-4DCE-364C-82FE-21F5B6E912C5}"/>
              </a:ext>
            </a:extLst>
          </p:cNvPr>
          <p:cNvGrpSpPr/>
          <p:nvPr/>
        </p:nvGrpSpPr>
        <p:grpSpPr>
          <a:xfrm>
            <a:off x="2985602" y="1228208"/>
            <a:ext cx="955645" cy="2715493"/>
            <a:chOff x="370881" y="2802851"/>
            <a:chExt cx="955645" cy="269010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D434FA4F-CDDB-4317-FE6A-CECBBC5FBCB9}"/>
                </a:ext>
              </a:extLst>
            </p:cNvPr>
            <p:cNvSpPr/>
            <p:nvPr/>
          </p:nvSpPr>
          <p:spPr>
            <a:xfrm>
              <a:off x="370881" y="2802851"/>
              <a:ext cx="955645" cy="2690106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Logik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15657B96-E33B-1C01-4BAB-0577A3556F20}"/>
                </a:ext>
              </a:extLst>
            </p:cNvPr>
            <p:cNvSpPr/>
            <p:nvPr/>
          </p:nvSpPr>
          <p:spPr>
            <a:xfrm>
              <a:off x="472989" y="3088516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Und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36C3749A-BB4A-1D6D-580B-07175E035BB7}"/>
                </a:ext>
              </a:extLst>
            </p:cNvPr>
            <p:cNvSpPr/>
            <p:nvPr/>
          </p:nvSpPr>
          <p:spPr>
            <a:xfrm>
              <a:off x="472989" y="5003642"/>
              <a:ext cx="751620" cy="43960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Schal-</a:t>
              </a:r>
              <a:r>
                <a:rPr lang="de-DE" sz="1400" dirty="0" err="1">
                  <a:solidFill>
                    <a:schemeClr val="tx1"/>
                  </a:solidFill>
                </a:rPr>
                <a:t>ter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497878C-E1F6-58DD-2048-72A3831C0C63}"/>
                </a:ext>
              </a:extLst>
            </p:cNvPr>
            <p:cNvSpPr/>
            <p:nvPr/>
          </p:nvSpPr>
          <p:spPr>
            <a:xfrm>
              <a:off x="472989" y="3567774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Oder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8EA4CD4F-EC4C-EC28-8C81-3E9C6D301A5B}"/>
                </a:ext>
              </a:extLst>
            </p:cNvPr>
            <p:cNvSpPr/>
            <p:nvPr/>
          </p:nvSpPr>
          <p:spPr>
            <a:xfrm>
              <a:off x="472989" y="4047032"/>
              <a:ext cx="751620" cy="4383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Exor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D14AA250-2E52-6D75-14EF-9D8118153E09}"/>
                </a:ext>
              </a:extLst>
            </p:cNvPr>
            <p:cNvSpPr/>
            <p:nvPr/>
          </p:nvSpPr>
          <p:spPr>
            <a:xfrm>
              <a:off x="472989" y="4526291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Tor</a:t>
              </a:r>
            </a:p>
          </p:txBody>
        </p:sp>
      </p:grpSp>
      <p:sp>
        <p:nvSpPr>
          <p:cNvPr id="36" name="Rechteck 35">
            <a:extLst>
              <a:ext uri="{FF2B5EF4-FFF2-40B4-BE49-F238E27FC236}">
                <a16:creationId xmlns:a16="http://schemas.microsoft.com/office/drawing/2014/main" id="{FA6562BF-80FC-D458-9F3E-B652B5D17EB4}"/>
              </a:ext>
            </a:extLst>
          </p:cNvPr>
          <p:cNvSpPr/>
          <p:nvPr/>
        </p:nvSpPr>
        <p:spPr>
          <a:xfrm>
            <a:off x="2979762" y="3983080"/>
            <a:ext cx="955645" cy="431845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200" b="1" dirty="0">
                <a:solidFill>
                  <a:srgbClr val="FFFF00"/>
                </a:solidFill>
              </a:rPr>
              <a:t>Zeitschalt-uhr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FE77C76-D15B-F415-3B2D-1A33EC7589AB}"/>
              </a:ext>
            </a:extLst>
          </p:cNvPr>
          <p:cNvSpPr/>
          <p:nvPr/>
        </p:nvSpPr>
        <p:spPr>
          <a:xfrm>
            <a:off x="7646077" y="948058"/>
            <a:ext cx="2228014" cy="354639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Ausgang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DD84A433-5223-71CE-9A73-A9AC8B5E1641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706637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C03CFCA2-22C9-6461-E266-F16592F2101F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357156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45071781-E9E0-C1C0-2446-AC077EDDA8D0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007675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DED84423-43F9-3E1C-813F-7F3062708E57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658194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3703AB1E-90DB-D81A-5824-5BD50827781C}"/>
              </a:ext>
            </a:extLst>
          </p:cNvPr>
          <p:cNvGrpSpPr/>
          <p:nvPr/>
        </p:nvGrpSpPr>
        <p:grpSpPr>
          <a:xfrm>
            <a:off x="426348" y="948058"/>
            <a:ext cx="2553414" cy="1670701"/>
            <a:chOff x="375858" y="948058"/>
            <a:chExt cx="2553414" cy="1670701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86F7AA59-404C-4D51-CC78-DAE64064957A}"/>
                </a:ext>
              </a:extLst>
            </p:cNvPr>
            <p:cNvSpPr/>
            <p:nvPr/>
          </p:nvSpPr>
          <p:spPr>
            <a:xfrm>
              <a:off x="375858" y="948058"/>
              <a:ext cx="2270106" cy="16707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Externe Eingänge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C163A468-ABA5-9753-C5F0-2939421EACE0}"/>
                </a:ext>
              </a:extLst>
            </p:cNvPr>
            <p:cNvSpPr txBox="1"/>
            <p:nvPr/>
          </p:nvSpPr>
          <p:spPr>
            <a:xfrm>
              <a:off x="398067" y="1228210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Eingang 1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E8F6CE8A-C602-039E-22FC-4CB588124879}"/>
                </a:ext>
              </a:extLst>
            </p:cNvPr>
            <p:cNvSpPr txBox="1"/>
            <p:nvPr/>
          </p:nvSpPr>
          <p:spPr>
            <a:xfrm>
              <a:off x="398067" y="1839742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Eingang 2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152DB99A-72B5-8BA0-B051-7831F8DDB014}"/>
                </a:ext>
              </a:extLst>
            </p:cNvPr>
            <p:cNvSpPr/>
            <p:nvPr/>
          </p:nvSpPr>
          <p:spPr>
            <a:xfrm>
              <a:off x="1326526" y="1233668"/>
              <a:ext cx="1190095" cy="570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Eingangs-konverter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87A2B733-2670-4C82-C40B-2EDC0774E5CC}"/>
                </a:ext>
              </a:extLst>
            </p:cNvPr>
            <p:cNvSpPr/>
            <p:nvPr/>
          </p:nvSpPr>
          <p:spPr>
            <a:xfrm>
              <a:off x="1326526" y="1837179"/>
              <a:ext cx="1190095" cy="570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Eingangs-konverter</a:t>
              </a: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A81A3E4D-68C0-CD43-B723-F0520A17A308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489233" y="2122565"/>
              <a:ext cx="837293" cy="8538"/>
            </a:xfrm>
            <a:prstGeom prst="straightConnector1">
              <a:avLst/>
            </a:prstGeom>
            <a:ln w="38100" cmpd="sng"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CFD424C5-0C07-6B84-D447-263D6CBAC5ED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489233" y="1519054"/>
              <a:ext cx="837293" cy="14207"/>
            </a:xfrm>
            <a:prstGeom prst="straightConnector1">
              <a:avLst/>
            </a:prstGeom>
            <a:ln w="38100" cmpd="sng"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21EE980A-281B-A6C7-071F-A799404589C5}"/>
                </a:ext>
              </a:extLst>
            </p:cNvPr>
            <p:cNvSpPr txBox="1"/>
            <p:nvPr/>
          </p:nvSpPr>
          <p:spPr>
            <a:xfrm>
              <a:off x="375858" y="2387927"/>
              <a:ext cx="2121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KO basiert; beliebige DPT**</a:t>
              </a:r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B1D96A06-0165-CF85-D1D2-FB34EC70599B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516621" y="1519054"/>
              <a:ext cx="412651" cy="0"/>
            </a:xfrm>
            <a:prstGeom prst="straightConnector1">
              <a:avLst/>
            </a:prstGeom>
            <a:ln w="38100" cmpd="sng">
              <a:headEnd type="none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7C8A571F-75AB-7A13-0A6E-0FE845955047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2516621" y="2116741"/>
              <a:ext cx="411455" cy="5824"/>
            </a:xfrm>
            <a:prstGeom prst="straightConnector1">
              <a:avLst/>
            </a:prstGeom>
            <a:ln w="38100" cmpd="sng">
              <a:headEnd type="none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7BE4104D-7631-DB2B-BEAA-CDFCE1F69EFB}"/>
              </a:ext>
            </a:extLst>
          </p:cNvPr>
          <p:cNvGrpSpPr/>
          <p:nvPr/>
        </p:nvGrpSpPr>
        <p:grpSpPr>
          <a:xfrm>
            <a:off x="425698" y="2823748"/>
            <a:ext cx="2559904" cy="1670701"/>
            <a:chOff x="373844" y="2666126"/>
            <a:chExt cx="2559904" cy="1670701"/>
          </a:xfrm>
        </p:grpSpPr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0D05CCF4-9C60-7020-A439-FFE0BCA702B8}"/>
                </a:ext>
              </a:extLst>
            </p:cNvPr>
            <p:cNvSpPr/>
            <p:nvPr/>
          </p:nvSpPr>
          <p:spPr>
            <a:xfrm>
              <a:off x="375858" y="2666126"/>
              <a:ext cx="2270106" cy="167070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Interne Eingänge</a:t>
              </a:r>
            </a:p>
          </p:txBody>
        </p: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C4715CE3-EFAE-C2EB-C83F-1BA47FD6D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32" y="3226744"/>
              <a:ext cx="2444516" cy="17565"/>
            </a:xfrm>
            <a:prstGeom prst="straightConnector1">
              <a:avLst/>
            </a:prstGeom>
            <a:ln w="38100" cmpd="sng"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DBE6A863-0876-94DF-6938-16DE50891316}"/>
                </a:ext>
              </a:extLst>
            </p:cNvPr>
            <p:cNvSpPr txBox="1"/>
            <p:nvPr/>
          </p:nvSpPr>
          <p:spPr>
            <a:xfrm>
              <a:off x="398067" y="2961908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Intern 3</a:t>
              </a:r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18849A86-B884-BC84-123A-7481734A0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32" y="3583070"/>
              <a:ext cx="2444516" cy="10599"/>
            </a:xfrm>
            <a:prstGeom prst="straightConnector1">
              <a:avLst/>
            </a:prstGeom>
            <a:ln w="38100" cmpd="sng"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64983E29-F03A-ED6D-A2E0-E990D31AD21E}"/>
                </a:ext>
              </a:extLst>
            </p:cNvPr>
            <p:cNvSpPr txBox="1"/>
            <p:nvPr/>
          </p:nvSpPr>
          <p:spPr>
            <a:xfrm>
              <a:off x="398067" y="3311268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Intern 4</a:t>
              </a:r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1E7EFE51-7851-1B8C-EFB5-4B015F8BC63A}"/>
                </a:ext>
              </a:extLst>
            </p:cNvPr>
            <p:cNvSpPr txBox="1"/>
            <p:nvPr/>
          </p:nvSpPr>
          <p:spPr>
            <a:xfrm>
              <a:off x="373844" y="4105977"/>
              <a:ext cx="2121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Rein binär, kein KO*.</a:t>
              </a:r>
            </a:p>
          </p:txBody>
        </p:sp>
      </p:grpSp>
      <p:sp>
        <p:nvSpPr>
          <p:cNvPr id="86" name="Textfeld 85">
            <a:extLst>
              <a:ext uri="{FF2B5EF4-FFF2-40B4-BE49-F238E27FC236}">
                <a16:creationId xmlns:a16="http://schemas.microsoft.com/office/drawing/2014/main" id="{48AD10F4-D85E-1DA2-5532-B87C1BBCFE8B}"/>
              </a:ext>
            </a:extLst>
          </p:cNvPr>
          <p:cNvSpPr txBox="1"/>
          <p:nvPr/>
        </p:nvSpPr>
        <p:spPr>
          <a:xfrm>
            <a:off x="4676775" y="4840352"/>
            <a:ext cx="5185938" cy="2308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>
              <a:defRPr sz="900" b="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/>
              <a:t>**) Derzeit implementiert: DPT 1, 2, 3, 5, 5.001, 6, 7, 8, 9, 16, 17, 232; DPT 16 nicht als Eingang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D0A9C231-63F8-5CB0-829B-12E6C9C1473C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>
            <a:off x="1561401" y="948058"/>
            <a:ext cx="7122594" cy="275638"/>
          </a:xfrm>
          <a:prstGeom prst="bentConnector4">
            <a:avLst>
              <a:gd name="adj1" fmla="val -26"/>
              <a:gd name="adj2" fmla="val 166653"/>
            </a:avLst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hteck 102">
            <a:extLst>
              <a:ext uri="{FF2B5EF4-FFF2-40B4-BE49-F238E27FC236}">
                <a16:creationId xmlns:a16="http://schemas.microsoft.com/office/drawing/2014/main" id="{AEB6CEBD-1BFD-7099-EDD4-79A927EDF076}"/>
              </a:ext>
            </a:extLst>
          </p:cNvPr>
          <p:cNvSpPr/>
          <p:nvPr/>
        </p:nvSpPr>
        <p:spPr>
          <a:xfrm>
            <a:off x="7701740" y="1226511"/>
            <a:ext cx="1475304" cy="31775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Formelrechner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F691775-6A10-55F5-8008-07A3CB879E8C}"/>
              </a:ext>
            </a:extLst>
          </p:cNvPr>
          <p:cNvSpPr/>
          <p:nvPr/>
        </p:nvSpPr>
        <p:spPr>
          <a:xfrm>
            <a:off x="7824726" y="1527789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Ausgangskonverter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(getrennt für EIN/AUS) 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D89812C-1B34-6DF3-59CB-57B262EB0BDA}"/>
              </a:ext>
            </a:extLst>
          </p:cNvPr>
          <p:cNvSpPr/>
          <p:nvPr/>
        </p:nvSpPr>
        <p:spPr>
          <a:xfrm>
            <a:off x="8537298" y="1530594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DPT-Wandler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(beliebige** DPT)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3860BF09-F6E0-129F-61B7-D510FE9B7356}"/>
              </a:ext>
            </a:extLst>
          </p:cNvPr>
          <p:cNvSpPr/>
          <p:nvPr/>
        </p:nvSpPr>
        <p:spPr>
          <a:xfrm>
            <a:off x="9328407" y="1527789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Sendefilter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(send on </a:t>
            </a:r>
            <a:r>
              <a:rPr lang="de-DE" sz="1400" dirty="0" err="1">
                <a:solidFill>
                  <a:schemeClr val="tx1"/>
                </a:solidFill>
              </a:rPr>
              <a:t>change</a:t>
            </a:r>
            <a:r>
              <a:rPr lang="de-DE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E6046FB4-43F9-0DA3-3518-58BFF13C535F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8307989" y="2895694"/>
            <a:ext cx="229309" cy="2805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A23AC47B-3D1F-055D-BBF0-30D299FFAB12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9020561" y="2895694"/>
            <a:ext cx="307846" cy="2805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BA5730FA-B1A2-FF2B-B143-EBD2558A7140}"/>
              </a:ext>
            </a:extLst>
          </p:cNvPr>
          <p:cNvCxnSpPr>
            <a:cxnSpLocks/>
            <a:endCxn id="66" idx="2"/>
          </p:cNvCxnSpPr>
          <p:nvPr/>
        </p:nvCxnSpPr>
        <p:spPr>
          <a:xfrm rot="10800000" flipV="1">
            <a:off x="1562765" y="2891181"/>
            <a:ext cx="5909512" cy="1603268"/>
          </a:xfrm>
          <a:prstGeom prst="bentConnector4">
            <a:avLst>
              <a:gd name="adj1" fmla="val -138"/>
              <a:gd name="adj2" fmla="val 114258"/>
            </a:avLst>
          </a:prstGeom>
          <a:ln w="38100" cmpd="sng">
            <a:headEnd type="oval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5E13E29C-9CCC-05F3-05C8-4D56CA171E56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 flipV="1">
            <a:off x="7308713" y="2895694"/>
            <a:ext cx="516013" cy="5472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303EB10B-2184-A35F-30AD-330B4A3BCB48}"/>
              </a:ext>
            </a:extLst>
          </p:cNvPr>
          <p:cNvSpPr/>
          <p:nvPr/>
        </p:nvSpPr>
        <p:spPr>
          <a:xfrm>
            <a:off x="4524268" y="691970"/>
            <a:ext cx="1483408" cy="1495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0" rIns="36000" bIns="36000" rtlCol="0" anchor="ctr"/>
          <a:lstStyle/>
          <a:p>
            <a:r>
              <a:rPr lang="de-DE" sz="700"/>
              <a:t>hat Zugriff auf Eingangswerte</a:t>
            </a:r>
            <a:endParaRPr lang="de-DE" sz="700" dirty="0"/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EFF1A069-26D8-7DF4-18B3-6ED2F8C071EC}"/>
              </a:ext>
            </a:extLst>
          </p:cNvPr>
          <p:cNvSpPr/>
          <p:nvPr/>
        </p:nvSpPr>
        <p:spPr>
          <a:xfrm>
            <a:off x="4055877" y="4648283"/>
            <a:ext cx="3218164" cy="1495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0" rIns="36000" bIns="36000" rtlCol="0" anchor="ctr"/>
          <a:lstStyle/>
          <a:p>
            <a:r>
              <a:rPr lang="de-DE" sz="800" dirty="0"/>
              <a:t>Interner Ausgang (für interne Eingänge weiterer Logikkanäle)</a:t>
            </a:r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B4B5C9B8-D7B5-95BB-0144-35CDC0AB0365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9811670" y="2895694"/>
            <a:ext cx="380672" cy="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184CB542-9B95-C1E3-FB1C-9805B98559E2}"/>
              </a:ext>
            </a:extLst>
          </p:cNvPr>
          <p:cNvSpPr txBox="1"/>
          <p:nvPr/>
        </p:nvSpPr>
        <p:spPr>
          <a:xfrm>
            <a:off x="425698" y="4843084"/>
            <a:ext cx="4197102" cy="2308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>
              <a:defRPr sz="1400" b="1">
                <a:solidFill>
                  <a:srgbClr val="FFFF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900" b="0" dirty="0">
                <a:solidFill>
                  <a:schemeClr val="tx1"/>
                </a:solidFill>
              </a:rPr>
              <a:t>*) Verbindet intern binär mit dem Ausgang eines anderen Logikkanals </a:t>
            </a:r>
          </a:p>
        </p:txBody>
      </p:sp>
    </p:spTree>
    <p:extLst>
      <p:ext uri="{BB962C8B-B14F-4D97-AF65-F5344CB8AC3E}">
        <p14:creationId xmlns:p14="http://schemas.microsoft.com/office/powerpoint/2010/main" val="223224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BE83D-F5CD-0419-A40D-B13EFDED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6EC1CC5E-CBC4-F3A6-7F5E-2D949099262E}"/>
              </a:ext>
            </a:extLst>
          </p:cNvPr>
          <p:cNvSpPr txBox="1"/>
          <p:nvPr/>
        </p:nvSpPr>
        <p:spPr>
          <a:xfrm>
            <a:off x="336589" y="263661"/>
            <a:ext cx="3719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Übersicht Logik-Funktionsblöcke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C8E14DA-4C6D-23A3-A720-6A00311D13B2}"/>
              </a:ext>
            </a:extLst>
          </p:cNvPr>
          <p:cNvSpPr/>
          <p:nvPr/>
        </p:nvSpPr>
        <p:spPr>
          <a:xfrm>
            <a:off x="2804662" y="948994"/>
            <a:ext cx="4768588" cy="355007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Rein binäre Verarbeitung (DPT 1)</a:t>
            </a:r>
          </a:p>
        </p:txBody>
      </p:sp>
      <p:cxnSp>
        <p:nvCxnSpPr>
          <p:cNvPr id="94" name="Gerade Verbindung mit Pfeil 93">
            <a:extLst>
              <a:ext uri="{FF2B5EF4-FFF2-40B4-BE49-F238E27FC236}">
                <a16:creationId xmlns:a16="http://schemas.microsoft.com/office/drawing/2014/main" id="{A0297389-6794-5A86-0A03-FCA1FCE26361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295275" y="1220750"/>
            <a:ext cx="130423" cy="1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393BD458-43E4-3770-E26D-90B2EBB5EBEA}"/>
              </a:ext>
            </a:extLst>
          </p:cNvPr>
          <p:cNvCxnSpPr>
            <a:cxnSpLocks/>
          </p:cNvCxnSpPr>
          <p:nvPr/>
        </p:nvCxnSpPr>
        <p:spPr>
          <a:xfrm>
            <a:off x="3268980" y="2898499"/>
            <a:ext cx="864795" cy="5971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 16">
            <a:extLst>
              <a:ext uri="{FF2B5EF4-FFF2-40B4-BE49-F238E27FC236}">
                <a16:creationId xmlns:a16="http://schemas.microsoft.com/office/drawing/2014/main" id="{B9647781-254C-DBF8-1341-849664DBDDE8}"/>
              </a:ext>
            </a:extLst>
          </p:cNvPr>
          <p:cNvSpPr/>
          <p:nvPr/>
        </p:nvSpPr>
        <p:spPr>
          <a:xfrm>
            <a:off x="4135371" y="1228209"/>
            <a:ext cx="3240252" cy="3186716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Signalverarbeitung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829ADD6-568B-F9AB-D0A3-D661FF7C3E87}"/>
              </a:ext>
            </a:extLst>
          </p:cNvPr>
          <p:cNvSpPr/>
          <p:nvPr/>
        </p:nvSpPr>
        <p:spPr>
          <a:xfrm>
            <a:off x="4223374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Treppenlicht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Blinken 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DC81A92-E178-F4D7-8895-00A3362C6E23}"/>
              </a:ext>
            </a:extLst>
          </p:cNvPr>
          <p:cNvSpPr/>
          <p:nvPr/>
        </p:nvSpPr>
        <p:spPr>
          <a:xfrm>
            <a:off x="4873893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Ein-/Ausschaltverzögerung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7DF116F-BB4E-66C1-36EF-64D8ECF1323B}"/>
              </a:ext>
            </a:extLst>
          </p:cNvPr>
          <p:cNvSpPr/>
          <p:nvPr/>
        </p:nvSpPr>
        <p:spPr>
          <a:xfrm>
            <a:off x="5524412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Wiederholungsfilter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38E624F3-FF48-3B8E-8329-1A4E58E6EA4C}"/>
              </a:ext>
            </a:extLst>
          </p:cNvPr>
          <p:cNvSpPr/>
          <p:nvPr/>
        </p:nvSpPr>
        <p:spPr>
          <a:xfrm>
            <a:off x="6174931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Zyklisch senden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27284385-CCA1-F056-24BE-5826F2B2FB1F}"/>
              </a:ext>
            </a:extLst>
          </p:cNvPr>
          <p:cNvSpPr/>
          <p:nvPr/>
        </p:nvSpPr>
        <p:spPr>
          <a:xfrm>
            <a:off x="6825450" y="1533261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Sperre</a:t>
            </a:r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51A2BB2-275A-7EF1-1F1C-3F69C4E72691}"/>
              </a:ext>
            </a:extLst>
          </p:cNvPr>
          <p:cNvGrpSpPr/>
          <p:nvPr/>
        </p:nvGrpSpPr>
        <p:grpSpPr>
          <a:xfrm>
            <a:off x="2984006" y="1490157"/>
            <a:ext cx="955645" cy="2924767"/>
            <a:chOff x="370881" y="2802851"/>
            <a:chExt cx="955645" cy="2690106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B0EE0634-1632-7C41-1F84-C9CB28A411DE}"/>
                </a:ext>
              </a:extLst>
            </p:cNvPr>
            <p:cNvSpPr/>
            <p:nvPr/>
          </p:nvSpPr>
          <p:spPr>
            <a:xfrm>
              <a:off x="370881" y="2802851"/>
              <a:ext cx="955645" cy="2690106"/>
            </a:xfrm>
            <a:prstGeom prst="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Logik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4F8A03B5-831C-556B-7508-A28988E616B2}"/>
                </a:ext>
              </a:extLst>
            </p:cNvPr>
            <p:cNvSpPr/>
            <p:nvPr/>
          </p:nvSpPr>
          <p:spPr>
            <a:xfrm>
              <a:off x="472989" y="3088516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Und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296C1F62-473A-745A-FE7C-0EFF0CC726D5}"/>
                </a:ext>
              </a:extLst>
            </p:cNvPr>
            <p:cNvSpPr/>
            <p:nvPr/>
          </p:nvSpPr>
          <p:spPr>
            <a:xfrm>
              <a:off x="472989" y="5003642"/>
              <a:ext cx="751620" cy="43960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Schal-</a:t>
              </a:r>
              <a:r>
                <a:rPr lang="de-DE" sz="1400" dirty="0" err="1">
                  <a:solidFill>
                    <a:schemeClr val="tx1"/>
                  </a:solidFill>
                </a:rPr>
                <a:t>ter</a:t>
              </a:r>
              <a:endParaRPr lang="de-DE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9B094258-27CF-DC4A-2AB7-0D7CA9DD50E2}"/>
                </a:ext>
              </a:extLst>
            </p:cNvPr>
            <p:cNvSpPr/>
            <p:nvPr/>
          </p:nvSpPr>
          <p:spPr>
            <a:xfrm>
              <a:off x="472989" y="3567774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Oder</a:t>
              </a: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A1ACEE58-9F09-9331-FAA2-C6CAFA1930FB}"/>
                </a:ext>
              </a:extLst>
            </p:cNvPr>
            <p:cNvSpPr/>
            <p:nvPr/>
          </p:nvSpPr>
          <p:spPr>
            <a:xfrm>
              <a:off x="472989" y="4047032"/>
              <a:ext cx="751620" cy="43834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Exor</a:t>
              </a: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AF9F8144-DDB4-4604-4C60-E44E42317007}"/>
                </a:ext>
              </a:extLst>
            </p:cNvPr>
            <p:cNvSpPr/>
            <p:nvPr/>
          </p:nvSpPr>
          <p:spPr>
            <a:xfrm>
              <a:off x="472989" y="4526291"/>
              <a:ext cx="751620" cy="43834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 anchorCtr="0"/>
            <a:lstStyle/>
            <a:p>
              <a:pPr algn="ctr"/>
              <a:r>
                <a:rPr lang="de-DE" sz="1400" dirty="0">
                  <a:solidFill>
                    <a:schemeClr val="tx1"/>
                  </a:solidFill>
                </a:rPr>
                <a:t>Tor</a:t>
              </a:r>
            </a:p>
          </p:txBody>
        </p:sp>
      </p:grpSp>
      <p:sp>
        <p:nvSpPr>
          <p:cNvPr id="36" name="Rechteck 35">
            <a:extLst>
              <a:ext uri="{FF2B5EF4-FFF2-40B4-BE49-F238E27FC236}">
                <a16:creationId xmlns:a16="http://schemas.microsoft.com/office/drawing/2014/main" id="{31517DD8-17E8-B98B-329B-45758B4154B2}"/>
              </a:ext>
            </a:extLst>
          </p:cNvPr>
          <p:cNvSpPr/>
          <p:nvPr/>
        </p:nvSpPr>
        <p:spPr>
          <a:xfrm>
            <a:off x="425698" y="963763"/>
            <a:ext cx="2270106" cy="51397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200" b="1" dirty="0">
                <a:solidFill>
                  <a:srgbClr val="FFFF00"/>
                </a:solidFill>
              </a:rPr>
              <a:t>Zeitschaltuhr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2AD4F69-2EE5-7B72-F37A-294A9220AF3C}"/>
              </a:ext>
            </a:extLst>
          </p:cNvPr>
          <p:cNvSpPr/>
          <p:nvPr/>
        </p:nvSpPr>
        <p:spPr>
          <a:xfrm>
            <a:off x="7646077" y="948058"/>
            <a:ext cx="2228014" cy="354639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Ausgang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C0FAD02B-74F4-D79C-156A-9729BBC3C61F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706637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8190C196-8C4D-9B5C-7AA7-A4C89770637C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357156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3AE0249B-75A3-9874-5AF5-5466F4CAA6BC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007675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74E75A8-C86B-3F68-EA0C-8023ED8762B0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658194" y="2901166"/>
            <a:ext cx="16725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0221B8C-9611-0E3A-9EA8-794E57B7E868}"/>
              </a:ext>
            </a:extLst>
          </p:cNvPr>
          <p:cNvGrpSpPr/>
          <p:nvPr/>
        </p:nvGrpSpPr>
        <p:grpSpPr>
          <a:xfrm>
            <a:off x="426348" y="1563880"/>
            <a:ext cx="2553414" cy="1670701"/>
            <a:chOff x="375858" y="948058"/>
            <a:chExt cx="2553414" cy="1670701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4B0C0F94-0794-3B28-F85D-39D48FB07FEC}"/>
                </a:ext>
              </a:extLst>
            </p:cNvPr>
            <p:cNvSpPr/>
            <p:nvPr/>
          </p:nvSpPr>
          <p:spPr>
            <a:xfrm>
              <a:off x="375858" y="948058"/>
              <a:ext cx="2270106" cy="1670701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Externe Eingänge</a:t>
              </a: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010943B8-5639-9482-9C5A-59935906A8D9}"/>
                </a:ext>
              </a:extLst>
            </p:cNvPr>
            <p:cNvSpPr txBox="1"/>
            <p:nvPr/>
          </p:nvSpPr>
          <p:spPr>
            <a:xfrm>
              <a:off x="398067" y="1228210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Eingang 1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6A6B5865-A2AC-AA96-1E02-C867A5962E81}"/>
                </a:ext>
              </a:extLst>
            </p:cNvPr>
            <p:cNvSpPr txBox="1"/>
            <p:nvPr/>
          </p:nvSpPr>
          <p:spPr>
            <a:xfrm>
              <a:off x="398067" y="1839742"/>
              <a:ext cx="9284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Eingang 2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CFF0DFB9-8D6D-EDAB-7A13-0FDCC02E72A6}"/>
                </a:ext>
              </a:extLst>
            </p:cNvPr>
            <p:cNvSpPr/>
            <p:nvPr/>
          </p:nvSpPr>
          <p:spPr>
            <a:xfrm>
              <a:off x="1326526" y="1233668"/>
              <a:ext cx="1190095" cy="570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Eingangs-konverter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E26414B8-5001-A949-AF28-C7FE89AD18D8}"/>
                </a:ext>
              </a:extLst>
            </p:cNvPr>
            <p:cNvSpPr/>
            <p:nvPr/>
          </p:nvSpPr>
          <p:spPr>
            <a:xfrm>
              <a:off x="1326526" y="1837179"/>
              <a:ext cx="1190095" cy="5707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 dirty="0"/>
                <a:t>Eingangs-konverter</a:t>
              </a: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EE492945-BCC8-CCA6-6B52-A4B3BE17DB62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 flipV="1">
              <a:off x="489233" y="2122565"/>
              <a:ext cx="837293" cy="8538"/>
            </a:xfrm>
            <a:prstGeom prst="straightConnector1">
              <a:avLst/>
            </a:prstGeom>
            <a:ln w="38100" cmpd="sng"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>
              <a:extLst>
                <a:ext uri="{FF2B5EF4-FFF2-40B4-BE49-F238E27FC236}">
                  <a16:creationId xmlns:a16="http://schemas.microsoft.com/office/drawing/2014/main" id="{A558E07D-DB8E-1021-3011-1A178805B51D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 flipV="1">
              <a:off x="489233" y="1519054"/>
              <a:ext cx="837293" cy="14207"/>
            </a:xfrm>
            <a:prstGeom prst="straightConnector1">
              <a:avLst/>
            </a:prstGeom>
            <a:ln w="38100" cmpd="sng"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D01CFE48-E66D-7447-5E7E-93CB183B5D2F}"/>
                </a:ext>
              </a:extLst>
            </p:cNvPr>
            <p:cNvSpPr txBox="1"/>
            <p:nvPr/>
          </p:nvSpPr>
          <p:spPr>
            <a:xfrm>
              <a:off x="375858" y="2387927"/>
              <a:ext cx="2121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KO basiert; beliebige DPT**</a:t>
              </a:r>
            </a:p>
          </p:txBody>
        </p: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2595DE04-9FD9-21F5-773B-E9000386BC6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516621" y="1519054"/>
              <a:ext cx="412651" cy="0"/>
            </a:xfrm>
            <a:prstGeom prst="straightConnector1">
              <a:avLst/>
            </a:prstGeom>
            <a:ln w="38100" cmpd="sng">
              <a:headEnd type="none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3C675986-0DB5-0AA8-248A-848795A57755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2516621" y="2116741"/>
              <a:ext cx="411455" cy="5824"/>
            </a:xfrm>
            <a:prstGeom prst="straightConnector1">
              <a:avLst/>
            </a:prstGeom>
            <a:ln w="38100" cmpd="sng">
              <a:headEnd type="none"/>
              <a:tailEnd type="triangle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uppieren 86">
            <a:extLst>
              <a:ext uri="{FF2B5EF4-FFF2-40B4-BE49-F238E27FC236}">
                <a16:creationId xmlns:a16="http://schemas.microsoft.com/office/drawing/2014/main" id="{7B1F6F74-6901-AA27-FFC8-4BAD0E042D30}"/>
              </a:ext>
            </a:extLst>
          </p:cNvPr>
          <p:cNvGrpSpPr/>
          <p:nvPr/>
        </p:nvGrpSpPr>
        <p:grpSpPr>
          <a:xfrm>
            <a:off x="418730" y="3272783"/>
            <a:ext cx="2559904" cy="1241470"/>
            <a:chOff x="373844" y="2666127"/>
            <a:chExt cx="2559904" cy="1241470"/>
          </a:xfrm>
        </p:grpSpPr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23C5A87B-4C84-512A-7546-F0FA1DB96C91}"/>
                </a:ext>
              </a:extLst>
            </p:cNvPr>
            <p:cNvSpPr/>
            <p:nvPr/>
          </p:nvSpPr>
          <p:spPr>
            <a:xfrm>
              <a:off x="375858" y="2666127"/>
              <a:ext cx="2270106" cy="1229042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lang="de-DE" sz="1400" b="1" dirty="0">
                  <a:solidFill>
                    <a:srgbClr val="FFFF00"/>
                  </a:solidFill>
                </a:rPr>
                <a:t>Interne Eingänge</a:t>
              </a:r>
            </a:p>
          </p:txBody>
        </p: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C6B50CE7-72DB-DE07-07F3-046D30CCE1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32" y="3226744"/>
              <a:ext cx="2444516" cy="17565"/>
            </a:xfrm>
            <a:prstGeom prst="straightConnector1">
              <a:avLst/>
            </a:prstGeom>
            <a:ln w="38100" cmpd="sng"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1B641B50-EE8C-FB2B-C6EC-F7564033CBC1}"/>
                </a:ext>
              </a:extLst>
            </p:cNvPr>
            <p:cNvSpPr txBox="1"/>
            <p:nvPr/>
          </p:nvSpPr>
          <p:spPr>
            <a:xfrm>
              <a:off x="398067" y="2961908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Intern 3</a:t>
              </a:r>
            </a:p>
          </p:txBody>
        </p:sp>
        <p:cxnSp>
          <p:nvCxnSpPr>
            <p:cNvPr id="72" name="Gerade Verbindung mit Pfeil 71">
              <a:extLst>
                <a:ext uri="{FF2B5EF4-FFF2-40B4-BE49-F238E27FC236}">
                  <a16:creationId xmlns:a16="http://schemas.microsoft.com/office/drawing/2014/main" id="{0A825D38-F1BD-B8B0-05D8-E663D1607A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232" y="3583070"/>
              <a:ext cx="2444516" cy="10599"/>
            </a:xfrm>
            <a:prstGeom prst="straightConnector1">
              <a:avLst/>
            </a:prstGeom>
            <a:ln w="38100" cmpd="sng">
              <a:headEnd type="oval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9D2D394D-7CFA-DBF6-BE70-EC90ACD8D171}"/>
                </a:ext>
              </a:extLst>
            </p:cNvPr>
            <p:cNvSpPr txBox="1"/>
            <p:nvPr/>
          </p:nvSpPr>
          <p:spPr>
            <a:xfrm>
              <a:off x="398067" y="3311268"/>
              <a:ext cx="7360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Intern 4</a:t>
              </a:r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8527D75E-BE75-7585-9886-952392385746}"/>
                </a:ext>
              </a:extLst>
            </p:cNvPr>
            <p:cNvSpPr txBox="1"/>
            <p:nvPr/>
          </p:nvSpPr>
          <p:spPr>
            <a:xfrm>
              <a:off x="373844" y="3676765"/>
              <a:ext cx="21218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Rein binär, kein KO*.</a:t>
              </a:r>
            </a:p>
          </p:txBody>
        </p:sp>
      </p:grpSp>
      <p:sp>
        <p:nvSpPr>
          <p:cNvPr id="86" name="Textfeld 85">
            <a:extLst>
              <a:ext uri="{FF2B5EF4-FFF2-40B4-BE49-F238E27FC236}">
                <a16:creationId xmlns:a16="http://schemas.microsoft.com/office/drawing/2014/main" id="{9493C22A-1BC2-0D56-A419-262635095343}"/>
              </a:ext>
            </a:extLst>
          </p:cNvPr>
          <p:cNvSpPr txBox="1"/>
          <p:nvPr/>
        </p:nvSpPr>
        <p:spPr>
          <a:xfrm>
            <a:off x="4676775" y="4840352"/>
            <a:ext cx="5185938" cy="23083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>
              <a:defRPr sz="900" b="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/>
              <a:t>**) Derzeit implementiert: DPT 1, 2, 3, 5, 5.001, 6, 7, 8, 9, 16, 17, 232; DPT 16 nicht als Eingang</a:t>
            </a:r>
          </a:p>
        </p:txBody>
      </p:sp>
      <p:cxnSp>
        <p:nvCxnSpPr>
          <p:cNvPr id="105" name="Gerade Verbindung mit Pfeil 104">
            <a:extLst>
              <a:ext uri="{FF2B5EF4-FFF2-40B4-BE49-F238E27FC236}">
                <a16:creationId xmlns:a16="http://schemas.microsoft.com/office/drawing/2014/main" id="{E4DBB869-FE03-5AE0-E51A-012E32E7B7B6}"/>
              </a:ext>
            </a:extLst>
          </p:cNvPr>
          <p:cNvCxnSpPr>
            <a:cxnSpLocks/>
            <a:endCxn id="5" idx="1"/>
          </p:cNvCxnSpPr>
          <p:nvPr/>
        </p:nvCxnSpPr>
        <p:spPr>
          <a:xfrm rot="10800000" flipV="1">
            <a:off x="426349" y="1839519"/>
            <a:ext cx="8257653" cy="559711"/>
          </a:xfrm>
          <a:prstGeom prst="bentConnector5">
            <a:avLst>
              <a:gd name="adj1" fmla="val -1079"/>
              <a:gd name="adj2" fmla="val -192079"/>
              <a:gd name="adj3" fmla="val 101538"/>
            </a:avLst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hteck 102">
            <a:extLst>
              <a:ext uri="{FF2B5EF4-FFF2-40B4-BE49-F238E27FC236}">
                <a16:creationId xmlns:a16="http://schemas.microsoft.com/office/drawing/2014/main" id="{F41BA289-20F4-6FD4-5384-42E71D0D5FE0}"/>
              </a:ext>
            </a:extLst>
          </p:cNvPr>
          <p:cNvSpPr/>
          <p:nvPr/>
        </p:nvSpPr>
        <p:spPr>
          <a:xfrm>
            <a:off x="7701740" y="1226511"/>
            <a:ext cx="1475304" cy="3177538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Formelrechner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395BE98A-FD68-B023-8FBF-E603C3474CA1}"/>
              </a:ext>
            </a:extLst>
          </p:cNvPr>
          <p:cNvSpPr/>
          <p:nvPr/>
        </p:nvSpPr>
        <p:spPr>
          <a:xfrm>
            <a:off x="7824726" y="1527789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Ausgangskonverter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(getrennt für EIN/AUS) 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9FB456D-1518-6DEF-4651-97F5E1595719}"/>
              </a:ext>
            </a:extLst>
          </p:cNvPr>
          <p:cNvSpPr/>
          <p:nvPr/>
        </p:nvSpPr>
        <p:spPr>
          <a:xfrm>
            <a:off x="8537298" y="1530594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DPT-Wandler</a:t>
            </a:r>
            <a:br>
              <a:rPr lang="de-DE" sz="1400" dirty="0">
                <a:solidFill>
                  <a:schemeClr val="tx1"/>
                </a:solidFill>
              </a:rPr>
            </a:br>
            <a:r>
              <a:rPr lang="de-DE" sz="1400" dirty="0">
                <a:solidFill>
                  <a:schemeClr val="tx1"/>
                </a:solidFill>
              </a:rPr>
              <a:t>(beliebige** DPT)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4A2223DB-0C68-C00D-0B1F-ACB4BCA60FF1}"/>
              </a:ext>
            </a:extLst>
          </p:cNvPr>
          <p:cNvSpPr/>
          <p:nvPr/>
        </p:nvSpPr>
        <p:spPr>
          <a:xfrm>
            <a:off x="9328407" y="1527789"/>
            <a:ext cx="483263" cy="27358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Sendefilter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(send on </a:t>
            </a:r>
            <a:r>
              <a:rPr lang="de-DE" sz="1400" dirty="0" err="1">
                <a:solidFill>
                  <a:schemeClr val="tx1"/>
                </a:solidFill>
              </a:rPr>
              <a:t>change</a:t>
            </a:r>
            <a:r>
              <a:rPr lang="de-DE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C62534D5-95F7-80D6-0A88-81346BDBBD61}"/>
              </a:ext>
            </a:extLst>
          </p:cNvPr>
          <p:cNvCxnSpPr>
            <a:cxnSpLocks/>
            <a:stCxn id="52" idx="3"/>
            <a:endCxn id="53" idx="1"/>
          </p:cNvCxnSpPr>
          <p:nvPr/>
        </p:nvCxnSpPr>
        <p:spPr>
          <a:xfrm>
            <a:off x="8307989" y="2895694"/>
            <a:ext cx="229309" cy="2805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46D1DCFC-ABF7-C7A5-90CE-F46007F971BE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9020561" y="2895694"/>
            <a:ext cx="307846" cy="2805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Gerade Verbindung mit Pfeil 117">
            <a:extLst>
              <a:ext uri="{FF2B5EF4-FFF2-40B4-BE49-F238E27FC236}">
                <a16:creationId xmlns:a16="http://schemas.microsoft.com/office/drawing/2014/main" id="{0CB9CE29-7968-6A99-D38F-3B5A188D8DDE}"/>
              </a:ext>
            </a:extLst>
          </p:cNvPr>
          <p:cNvCxnSpPr>
            <a:cxnSpLocks/>
            <a:endCxn id="85" idx="2"/>
          </p:cNvCxnSpPr>
          <p:nvPr/>
        </p:nvCxnSpPr>
        <p:spPr>
          <a:xfrm rot="10800000" flipV="1">
            <a:off x="1479667" y="2906031"/>
            <a:ext cx="5992764" cy="1608222"/>
          </a:xfrm>
          <a:prstGeom prst="bentConnector4">
            <a:avLst>
              <a:gd name="adj1" fmla="val -177"/>
              <a:gd name="adj2" fmla="val 112319"/>
            </a:avLst>
          </a:prstGeom>
          <a:ln w="38100" cmpd="sng">
            <a:headEnd type="oval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Gerade Verbindung mit Pfeil 113">
            <a:extLst>
              <a:ext uri="{FF2B5EF4-FFF2-40B4-BE49-F238E27FC236}">
                <a16:creationId xmlns:a16="http://schemas.microsoft.com/office/drawing/2014/main" id="{B2DC63F2-093C-C101-0873-965DF1C3A1DD}"/>
              </a:ext>
            </a:extLst>
          </p:cNvPr>
          <p:cNvCxnSpPr>
            <a:cxnSpLocks/>
            <a:stCxn id="23" idx="3"/>
            <a:endCxn id="52" idx="1"/>
          </p:cNvCxnSpPr>
          <p:nvPr/>
        </p:nvCxnSpPr>
        <p:spPr>
          <a:xfrm flipV="1">
            <a:off x="7308713" y="2895694"/>
            <a:ext cx="516013" cy="5472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DC795879-6DCF-E492-3046-2B202AACDDD4}"/>
              </a:ext>
            </a:extLst>
          </p:cNvPr>
          <p:cNvSpPr/>
          <p:nvPr/>
        </p:nvSpPr>
        <p:spPr>
          <a:xfrm>
            <a:off x="4524268" y="691970"/>
            <a:ext cx="1483408" cy="1495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0" rIns="36000" bIns="36000" rtlCol="0" anchor="ctr"/>
          <a:lstStyle/>
          <a:p>
            <a:r>
              <a:rPr lang="de-DE" sz="700"/>
              <a:t>hat Zugriff auf Eingangswerte</a:t>
            </a:r>
            <a:endParaRPr lang="de-DE" sz="700" dirty="0"/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9B913F9B-A499-1FE9-2A5F-4D09163EE8D1}"/>
              </a:ext>
            </a:extLst>
          </p:cNvPr>
          <p:cNvSpPr/>
          <p:nvPr/>
        </p:nvSpPr>
        <p:spPr>
          <a:xfrm>
            <a:off x="4055877" y="4648283"/>
            <a:ext cx="3218164" cy="14950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0" rIns="36000" bIns="36000" rtlCol="0" anchor="ctr"/>
          <a:lstStyle/>
          <a:p>
            <a:r>
              <a:rPr lang="de-DE" sz="800" dirty="0"/>
              <a:t>Interner Ausgang (für interne Eingänge weiterer Logikkanäle)</a:t>
            </a:r>
          </a:p>
        </p:txBody>
      </p: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DA04DBA9-A031-A38D-91C4-1772BEC2B5B1}"/>
              </a:ext>
            </a:extLst>
          </p:cNvPr>
          <p:cNvCxnSpPr>
            <a:cxnSpLocks/>
            <a:stCxn id="54" idx="3"/>
          </p:cNvCxnSpPr>
          <p:nvPr/>
        </p:nvCxnSpPr>
        <p:spPr>
          <a:xfrm>
            <a:off x="9811670" y="2895694"/>
            <a:ext cx="380672" cy="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>
            <a:extLst>
              <a:ext uri="{FF2B5EF4-FFF2-40B4-BE49-F238E27FC236}">
                <a16:creationId xmlns:a16="http://schemas.microsoft.com/office/drawing/2014/main" id="{7E4E0B9B-CDFE-BD1D-469A-5081CCC3693C}"/>
              </a:ext>
            </a:extLst>
          </p:cNvPr>
          <p:cNvSpPr txBox="1"/>
          <p:nvPr/>
        </p:nvSpPr>
        <p:spPr>
          <a:xfrm>
            <a:off x="425698" y="4843084"/>
            <a:ext cx="4197102" cy="2308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 anchorCtr="0"/>
          <a:lstStyle>
            <a:defPPr>
              <a:defRPr lang="en-US"/>
            </a:defPPr>
            <a:lvl1pPr>
              <a:defRPr sz="1400" b="1">
                <a:solidFill>
                  <a:srgbClr val="FFFF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sz="900" b="0" dirty="0">
                <a:solidFill>
                  <a:schemeClr val="tx1"/>
                </a:solidFill>
              </a:rPr>
              <a:t>*) Verbindet intern binär mit dem Ausgang eines anderen Logikkanals </a:t>
            </a:r>
          </a:p>
        </p:txBody>
      </p:sp>
      <p:sp>
        <p:nvSpPr>
          <p:cNvPr id="13" name="Gleichschenkliges Dreieck 12">
            <a:extLst>
              <a:ext uri="{FF2B5EF4-FFF2-40B4-BE49-F238E27FC236}">
                <a16:creationId xmlns:a16="http://schemas.microsoft.com/office/drawing/2014/main" id="{5592E113-7F7D-4A1B-ED17-62D70CA0BA34}"/>
              </a:ext>
            </a:extLst>
          </p:cNvPr>
          <p:cNvSpPr/>
          <p:nvPr/>
        </p:nvSpPr>
        <p:spPr>
          <a:xfrm>
            <a:off x="425698" y="972300"/>
            <a:ext cx="2259939" cy="496903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689AEBFB-03B0-C9CA-2D89-7A24D67C2126}"/>
              </a:ext>
            </a:extLst>
          </p:cNvPr>
          <p:cNvCxnSpPr>
            <a:cxnSpLocks/>
          </p:cNvCxnSpPr>
          <p:nvPr/>
        </p:nvCxnSpPr>
        <p:spPr>
          <a:xfrm>
            <a:off x="2705101" y="1347476"/>
            <a:ext cx="1428674" cy="0"/>
          </a:xfrm>
          <a:prstGeom prst="straightConnector1">
            <a:avLst/>
          </a:prstGeom>
          <a:ln w="38100" cap="sq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305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D77D7-C4D6-0357-2B4F-D86DC82B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F28C1B8A-A491-5FBF-97D7-199EA143C490}"/>
              </a:ext>
            </a:extLst>
          </p:cNvPr>
          <p:cNvSpPr/>
          <p:nvPr/>
        </p:nvSpPr>
        <p:spPr>
          <a:xfrm>
            <a:off x="1951527" y="532684"/>
            <a:ext cx="4235914" cy="451920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Eingang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ECDF3051-5F6E-03E2-453D-39D6FE5B6B5A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226807" y="1629393"/>
            <a:ext cx="957534" cy="0"/>
          </a:xfrm>
          <a:prstGeom prst="straightConnector1">
            <a:avLst/>
          </a:prstGeom>
          <a:ln w="38100" cmpd="sng"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hteck 31">
            <a:extLst>
              <a:ext uri="{FF2B5EF4-FFF2-40B4-BE49-F238E27FC236}">
                <a16:creationId xmlns:a16="http://schemas.microsoft.com/office/drawing/2014/main" id="{92006B6F-15F6-AD8B-E475-B568EF1E1DF2}"/>
              </a:ext>
            </a:extLst>
          </p:cNvPr>
          <p:cNvSpPr/>
          <p:nvPr/>
        </p:nvSpPr>
        <p:spPr>
          <a:xfrm>
            <a:off x="2417074" y="2295761"/>
            <a:ext cx="483263" cy="1450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KO-Selektor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1310988-E7D9-0A6D-BB98-84E70E1FF6E3}"/>
              </a:ext>
            </a:extLst>
          </p:cNvPr>
          <p:cNvSpPr/>
          <p:nvPr/>
        </p:nvSpPr>
        <p:spPr>
          <a:xfrm>
            <a:off x="2184341" y="1399485"/>
            <a:ext cx="948728" cy="459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Wert-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Speicher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FF178B6-0061-5AD5-071B-6EE7B56C40E7}"/>
              </a:ext>
            </a:extLst>
          </p:cNvPr>
          <p:cNvSpPr/>
          <p:nvPr/>
        </p:nvSpPr>
        <p:spPr>
          <a:xfrm>
            <a:off x="3237738" y="887205"/>
            <a:ext cx="2858259" cy="406735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Eingangskonverter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31785D4-79B3-1589-B863-F12A1726ECEC}"/>
              </a:ext>
            </a:extLst>
          </p:cNvPr>
          <p:cNvSpPr/>
          <p:nvPr/>
        </p:nvSpPr>
        <p:spPr>
          <a:xfrm>
            <a:off x="3337840" y="3312814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Trigger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B82EB15-C4EB-0F43-F7E6-F60AFA9B4CB2}"/>
              </a:ext>
            </a:extLst>
          </p:cNvPr>
          <p:cNvSpPr/>
          <p:nvPr/>
        </p:nvSpPr>
        <p:spPr>
          <a:xfrm>
            <a:off x="3337843" y="1773282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Wertintervall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9E741EC-E8FF-EDC8-21BE-79F078B07A2A}"/>
              </a:ext>
            </a:extLst>
          </p:cNvPr>
          <p:cNvSpPr/>
          <p:nvPr/>
        </p:nvSpPr>
        <p:spPr>
          <a:xfrm>
            <a:off x="3337836" y="3878224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Differenzintervall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0E87838-1964-AEDF-8B58-736F0C1CF74E}"/>
              </a:ext>
            </a:extLst>
          </p:cNvPr>
          <p:cNvSpPr/>
          <p:nvPr/>
        </p:nvSpPr>
        <p:spPr>
          <a:xfrm>
            <a:off x="3337843" y="2285233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Hysterese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CB2A4DC-0606-B583-37E4-166B78903364}"/>
              </a:ext>
            </a:extLst>
          </p:cNvPr>
          <p:cNvSpPr/>
          <p:nvPr/>
        </p:nvSpPr>
        <p:spPr>
          <a:xfrm>
            <a:off x="3337835" y="4390175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Differenzhysterese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4F373EE4-D44E-22B9-264E-BF0AF2995ADB}"/>
              </a:ext>
            </a:extLst>
          </p:cNvPr>
          <p:cNvSpPr/>
          <p:nvPr/>
        </p:nvSpPr>
        <p:spPr>
          <a:xfrm>
            <a:off x="3337840" y="2797184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Einzelwerte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E4AB58FE-EB4E-8FA3-D3EB-070A2DFD0E7D}"/>
              </a:ext>
            </a:extLst>
          </p:cNvPr>
          <p:cNvSpPr/>
          <p:nvPr/>
        </p:nvSpPr>
        <p:spPr>
          <a:xfrm>
            <a:off x="3337835" y="1208902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Konstante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86231B69-FDA6-DB91-2454-5CD521260E68}"/>
              </a:ext>
            </a:extLst>
          </p:cNvPr>
          <p:cNvSpPr/>
          <p:nvPr/>
        </p:nvSpPr>
        <p:spPr>
          <a:xfrm>
            <a:off x="5702936" y="1208902"/>
            <a:ext cx="277016" cy="3623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Bool-Wert</a:t>
            </a:r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7C77D514-37A2-41EC-EE15-A830AAEAA081}"/>
              </a:ext>
            </a:extLst>
          </p:cNvPr>
          <p:cNvCxnSpPr>
            <a:cxnSpLocks/>
            <a:stCxn id="33" idx="2"/>
            <a:endCxn id="32" idx="0"/>
          </p:cNvCxnSpPr>
          <p:nvPr/>
        </p:nvCxnSpPr>
        <p:spPr>
          <a:xfrm>
            <a:off x="2658705" y="1859301"/>
            <a:ext cx="1" cy="436460"/>
          </a:xfrm>
          <a:prstGeom prst="straightConnector1">
            <a:avLst/>
          </a:prstGeom>
          <a:ln w="38100" cmpd="sng"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9F1E170-D296-A8D3-CDCA-034FFBB54A2A}"/>
              </a:ext>
            </a:extLst>
          </p:cNvPr>
          <p:cNvCxnSpPr>
            <a:cxnSpLocks/>
          </p:cNvCxnSpPr>
          <p:nvPr/>
        </p:nvCxnSpPr>
        <p:spPr>
          <a:xfrm flipV="1">
            <a:off x="1294883" y="4755167"/>
            <a:ext cx="2042952" cy="12774"/>
          </a:xfrm>
          <a:prstGeom prst="straightConnector1">
            <a:avLst/>
          </a:prstGeom>
          <a:ln w="38100" cmpd="sng"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 Verbindung mit Pfeil 56">
            <a:extLst>
              <a:ext uri="{FF2B5EF4-FFF2-40B4-BE49-F238E27FC236}">
                <a16:creationId xmlns:a16="http://schemas.microsoft.com/office/drawing/2014/main" id="{AA5D97BC-0036-5B99-919E-C1BDB5396100}"/>
              </a:ext>
            </a:extLst>
          </p:cNvPr>
          <p:cNvCxnSpPr>
            <a:cxnSpLocks/>
          </p:cNvCxnSpPr>
          <p:nvPr/>
        </p:nvCxnSpPr>
        <p:spPr>
          <a:xfrm flipV="1">
            <a:off x="2658705" y="4233648"/>
            <a:ext cx="679130" cy="520500"/>
          </a:xfrm>
          <a:prstGeom prst="bentConnector3">
            <a:avLst>
              <a:gd name="adj1" fmla="val -141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mit Pfeil 56">
            <a:extLst>
              <a:ext uri="{FF2B5EF4-FFF2-40B4-BE49-F238E27FC236}">
                <a16:creationId xmlns:a16="http://schemas.microsoft.com/office/drawing/2014/main" id="{BB1678C5-FFCB-EB8C-1F36-C66A4879BF72}"/>
              </a:ext>
            </a:extLst>
          </p:cNvPr>
          <p:cNvCxnSpPr>
            <a:cxnSpLocks/>
            <a:stCxn id="32" idx="3"/>
            <a:endCxn id="6" idx="1"/>
          </p:cNvCxnSpPr>
          <p:nvPr/>
        </p:nvCxnSpPr>
        <p:spPr>
          <a:xfrm>
            <a:off x="2900337" y="3020861"/>
            <a:ext cx="437503" cy="513192"/>
          </a:xfrm>
          <a:prstGeom prst="bentConnector3">
            <a:avLst>
              <a:gd name="adj1" fmla="val 29680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Gerade Verbindung mit Pfeil 56">
            <a:extLst>
              <a:ext uri="{FF2B5EF4-FFF2-40B4-BE49-F238E27FC236}">
                <a16:creationId xmlns:a16="http://schemas.microsoft.com/office/drawing/2014/main" id="{4046E8BF-E6F8-B5C6-22A7-B809DEEE6218}"/>
              </a:ext>
            </a:extLst>
          </p:cNvPr>
          <p:cNvCxnSpPr>
            <a:cxnSpLocks/>
            <a:stCxn id="32" idx="3"/>
            <a:endCxn id="30" idx="1"/>
          </p:cNvCxnSpPr>
          <p:nvPr/>
        </p:nvCxnSpPr>
        <p:spPr>
          <a:xfrm flipV="1">
            <a:off x="2900337" y="3018423"/>
            <a:ext cx="437503" cy="2438"/>
          </a:xfrm>
          <a:prstGeom prst="bentConnector3">
            <a:avLst>
              <a:gd name="adj1" fmla="val 50000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Gerade Verbindung mit Pfeil 56">
            <a:extLst>
              <a:ext uri="{FF2B5EF4-FFF2-40B4-BE49-F238E27FC236}">
                <a16:creationId xmlns:a16="http://schemas.microsoft.com/office/drawing/2014/main" id="{2F9DE419-74AD-362E-F631-4606F53F5339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2900337" y="2506472"/>
            <a:ext cx="437506" cy="514389"/>
          </a:xfrm>
          <a:prstGeom prst="bentConnector3">
            <a:avLst>
              <a:gd name="adj1" fmla="val 29680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56">
            <a:extLst>
              <a:ext uri="{FF2B5EF4-FFF2-40B4-BE49-F238E27FC236}">
                <a16:creationId xmlns:a16="http://schemas.microsoft.com/office/drawing/2014/main" id="{C48F9E06-8369-8E29-3DDB-6B855ADB46C6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 flipV="1">
            <a:off x="2900337" y="1994521"/>
            <a:ext cx="437506" cy="1026340"/>
          </a:xfrm>
          <a:prstGeom prst="bentConnector3">
            <a:avLst>
              <a:gd name="adj1" fmla="val 30806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Gerade Verbindung mit Pfeil 56">
            <a:extLst>
              <a:ext uri="{FF2B5EF4-FFF2-40B4-BE49-F238E27FC236}">
                <a16:creationId xmlns:a16="http://schemas.microsoft.com/office/drawing/2014/main" id="{6C0C3515-26FF-3B87-CBB4-2F094F05D5C2}"/>
              </a:ext>
            </a:extLst>
          </p:cNvPr>
          <p:cNvCxnSpPr>
            <a:cxnSpLocks/>
            <a:stCxn id="32" idx="3"/>
            <a:endCxn id="13" idx="1"/>
          </p:cNvCxnSpPr>
          <p:nvPr/>
        </p:nvCxnSpPr>
        <p:spPr>
          <a:xfrm>
            <a:off x="2900337" y="3020861"/>
            <a:ext cx="437499" cy="1078602"/>
          </a:xfrm>
          <a:prstGeom prst="bentConnector3">
            <a:avLst>
              <a:gd name="adj1" fmla="val 29680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 Verbindung mit Pfeil 56">
            <a:extLst>
              <a:ext uri="{FF2B5EF4-FFF2-40B4-BE49-F238E27FC236}">
                <a16:creationId xmlns:a16="http://schemas.microsoft.com/office/drawing/2014/main" id="{D3F372D0-3886-CE3C-1167-BF3863D8D4B4}"/>
              </a:ext>
            </a:extLst>
          </p:cNvPr>
          <p:cNvCxnSpPr>
            <a:cxnSpLocks/>
            <a:stCxn id="32" idx="3"/>
            <a:endCxn id="18" idx="1"/>
          </p:cNvCxnSpPr>
          <p:nvPr/>
        </p:nvCxnSpPr>
        <p:spPr>
          <a:xfrm>
            <a:off x="2900337" y="3020861"/>
            <a:ext cx="437498" cy="1590553"/>
          </a:xfrm>
          <a:prstGeom prst="bentConnector3">
            <a:avLst>
              <a:gd name="adj1" fmla="val 30035"/>
            </a:avLst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mit Pfeil 106">
            <a:extLst>
              <a:ext uri="{FF2B5EF4-FFF2-40B4-BE49-F238E27FC236}">
                <a16:creationId xmlns:a16="http://schemas.microsoft.com/office/drawing/2014/main" id="{DAAF8DF1-5715-2451-A6AC-239E6EBEB1F1}"/>
              </a:ext>
            </a:extLst>
          </p:cNvPr>
          <p:cNvCxnSpPr>
            <a:cxnSpLocks/>
            <a:stCxn id="109" idx="2"/>
            <a:endCxn id="32" idx="1"/>
          </p:cNvCxnSpPr>
          <p:nvPr/>
        </p:nvCxnSpPr>
        <p:spPr>
          <a:xfrm flipV="1">
            <a:off x="1294883" y="3020861"/>
            <a:ext cx="1122191" cy="1019"/>
          </a:xfrm>
          <a:prstGeom prst="straightConnector1">
            <a:avLst/>
          </a:prstGeom>
          <a:ln w="38100" cmpd="sng"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feld 107">
            <a:extLst>
              <a:ext uri="{FF2B5EF4-FFF2-40B4-BE49-F238E27FC236}">
                <a16:creationId xmlns:a16="http://schemas.microsoft.com/office/drawing/2014/main" id="{2F546230-05A1-8401-3A97-18A8EA0BEFB3}"/>
              </a:ext>
            </a:extLst>
          </p:cNvPr>
          <p:cNvSpPr txBox="1"/>
          <p:nvPr/>
        </p:nvSpPr>
        <p:spPr>
          <a:xfrm>
            <a:off x="932380" y="1229059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Eigenes KO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09FCF7A4-5CA3-1463-7C49-7778E3EFC49E}"/>
              </a:ext>
            </a:extLst>
          </p:cNvPr>
          <p:cNvSpPr txBox="1"/>
          <p:nvPr/>
        </p:nvSpPr>
        <p:spPr>
          <a:xfrm>
            <a:off x="627873" y="2744881"/>
            <a:ext cx="1334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Verknüpftes KO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AF2B9FCE-B5DC-6DD6-E9BF-50070016438E}"/>
              </a:ext>
            </a:extLst>
          </p:cNvPr>
          <p:cNvSpPr txBox="1"/>
          <p:nvPr/>
        </p:nvSpPr>
        <p:spPr>
          <a:xfrm>
            <a:off x="495707" y="4485501"/>
            <a:ext cx="1497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Differenz-Eingang</a:t>
            </a:r>
          </a:p>
        </p:txBody>
      </p:sp>
      <p:cxnSp>
        <p:nvCxnSpPr>
          <p:cNvPr id="135" name="Gerade Verbindung mit Pfeil 134">
            <a:extLst>
              <a:ext uri="{FF2B5EF4-FFF2-40B4-BE49-F238E27FC236}">
                <a16:creationId xmlns:a16="http://schemas.microsoft.com/office/drawing/2014/main" id="{9A44ACBE-9AF8-8BD6-8573-5C082E298BB0}"/>
              </a:ext>
            </a:extLst>
          </p:cNvPr>
          <p:cNvCxnSpPr>
            <a:cxnSpLocks/>
            <a:stCxn id="178" idx="1"/>
          </p:cNvCxnSpPr>
          <p:nvPr/>
        </p:nvCxnSpPr>
        <p:spPr>
          <a:xfrm flipH="1">
            <a:off x="1181114" y="1114439"/>
            <a:ext cx="1003227" cy="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A69E52CB-352D-74C5-CDCD-29A5003246E0}"/>
              </a:ext>
            </a:extLst>
          </p:cNvPr>
          <p:cNvCxnSpPr>
            <a:cxnSpLocks/>
          </p:cNvCxnSpPr>
          <p:nvPr/>
        </p:nvCxnSpPr>
        <p:spPr>
          <a:xfrm>
            <a:off x="5423010" y="1417599"/>
            <a:ext cx="27992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5B320FB4-3C5E-EEBE-2681-5B8E1DB31040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423018" y="1994521"/>
            <a:ext cx="279918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DA1C8095-9718-8950-C0AC-7EB8B600DED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423018" y="2506472"/>
            <a:ext cx="279918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442F49C2-8AEF-C907-E6ED-80904D64E7B2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23015" y="3018423"/>
            <a:ext cx="279921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8AA20880-8E93-E97E-9ABA-F24249F2C44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423015" y="3534053"/>
            <a:ext cx="279921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20581E1B-9F10-57F4-0837-AA7356ACE27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423011" y="4099463"/>
            <a:ext cx="279925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F8CF039B-0DFE-9BD2-CFB0-9BBEDE7B2AD4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423010" y="4611414"/>
            <a:ext cx="27992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Gerade Verbindung mit Pfeil 172">
            <a:extLst>
              <a:ext uri="{FF2B5EF4-FFF2-40B4-BE49-F238E27FC236}">
                <a16:creationId xmlns:a16="http://schemas.microsoft.com/office/drawing/2014/main" id="{BCB249AC-E3BB-6DEF-7393-EA299E20FA15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5979952" y="3020777"/>
            <a:ext cx="643098" cy="409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feld 175">
            <a:extLst>
              <a:ext uri="{FF2B5EF4-FFF2-40B4-BE49-F238E27FC236}">
                <a16:creationId xmlns:a16="http://schemas.microsoft.com/office/drawing/2014/main" id="{43306635-1570-0F4A-C5B0-A773D2767BE8}"/>
              </a:ext>
            </a:extLst>
          </p:cNvPr>
          <p:cNvSpPr txBox="1"/>
          <p:nvPr/>
        </p:nvSpPr>
        <p:spPr>
          <a:xfrm>
            <a:off x="6133589" y="2727710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Zur Logik</a:t>
            </a:r>
          </a:p>
        </p:txBody>
      </p:sp>
      <p:sp>
        <p:nvSpPr>
          <p:cNvPr id="178" name="Rechteck 177">
            <a:extLst>
              <a:ext uri="{FF2B5EF4-FFF2-40B4-BE49-F238E27FC236}">
                <a16:creationId xmlns:a16="http://schemas.microsoft.com/office/drawing/2014/main" id="{40E04A63-558C-F874-5FEB-690CC50B3676}"/>
              </a:ext>
            </a:extLst>
          </p:cNvPr>
          <p:cNvSpPr/>
          <p:nvPr/>
        </p:nvSpPr>
        <p:spPr>
          <a:xfrm>
            <a:off x="2184341" y="884531"/>
            <a:ext cx="948728" cy="4598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lesen</a:t>
            </a:r>
          </a:p>
        </p:txBody>
      </p:sp>
    </p:spTree>
    <p:extLst>
      <p:ext uri="{BB962C8B-B14F-4D97-AF65-F5344CB8AC3E}">
        <p14:creationId xmlns:p14="http://schemas.microsoft.com/office/powerpoint/2010/main" val="303989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26C8-8FDC-ED72-C546-9D7EA7A2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FA712EF-1D83-31F7-C7C3-A104C9B7A53B}"/>
              </a:ext>
            </a:extLst>
          </p:cNvPr>
          <p:cNvSpPr/>
          <p:nvPr/>
        </p:nvSpPr>
        <p:spPr>
          <a:xfrm>
            <a:off x="2080727" y="297180"/>
            <a:ext cx="5794310" cy="520009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Ausgang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A4C908FE-634B-F678-F1FB-C2C3B000EC69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1349420" y="1934002"/>
            <a:ext cx="1116768" cy="1028241"/>
          </a:xfrm>
          <a:prstGeom prst="bentConnector3">
            <a:avLst>
              <a:gd name="adj1" fmla="val 75587"/>
            </a:avLst>
          </a:prstGeom>
          <a:ln w="38100" cmpd="sng"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06761F7E-D9A3-5964-6D7E-FB7F99D26FEE}"/>
              </a:ext>
            </a:extLst>
          </p:cNvPr>
          <p:cNvSpPr/>
          <p:nvPr/>
        </p:nvSpPr>
        <p:spPr>
          <a:xfrm>
            <a:off x="3196819" y="548640"/>
            <a:ext cx="2970494" cy="489176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Ausgangskonverter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8E07677-21D1-B8B3-9305-C386A5833C19}"/>
              </a:ext>
            </a:extLst>
          </p:cNvPr>
          <p:cNvSpPr/>
          <p:nvPr/>
        </p:nvSpPr>
        <p:spPr>
          <a:xfrm>
            <a:off x="2466188" y="1208902"/>
            <a:ext cx="483263" cy="1450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EIN-Selektor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DEDB69DB-8AA6-7604-36F7-23847FD99FC0}"/>
              </a:ext>
            </a:extLst>
          </p:cNvPr>
          <p:cNvCxnSpPr>
            <a:cxnSpLocks/>
          </p:cNvCxnSpPr>
          <p:nvPr/>
        </p:nvCxnSpPr>
        <p:spPr>
          <a:xfrm flipH="1">
            <a:off x="1295400" y="1056194"/>
            <a:ext cx="1999282" cy="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21CB9351-65FA-DED1-A168-D55945CACE0E}"/>
              </a:ext>
            </a:extLst>
          </p:cNvPr>
          <p:cNvSpPr/>
          <p:nvPr/>
        </p:nvSpPr>
        <p:spPr>
          <a:xfrm>
            <a:off x="3294682" y="868682"/>
            <a:ext cx="2772292" cy="291603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de-DE" sz="1400" b="1" dirty="0">
                <a:solidFill>
                  <a:srgbClr val="FFFF00"/>
                </a:solidFill>
              </a:rPr>
              <a:t>Formelrechner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D491FA8-F56B-C607-6954-E4294E2CF3C1}"/>
              </a:ext>
            </a:extLst>
          </p:cNvPr>
          <p:cNvSpPr/>
          <p:nvPr/>
        </p:nvSpPr>
        <p:spPr>
          <a:xfrm>
            <a:off x="3328512" y="3252955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 einer Funktion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DD46FE1-074C-C71D-A676-82D2611EA69A}"/>
              </a:ext>
            </a:extLst>
          </p:cNvPr>
          <p:cNvSpPr/>
          <p:nvPr/>
        </p:nvSpPr>
        <p:spPr>
          <a:xfrm>
            <a:off x="3328512" y="1716123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 von Eingang 1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172DAE0-13F7-E0E2-D0A2-AC05B1E52151}"/>
              </a:ext>
            </a:extLst>
          </p:cNvPr>
          <p:cNvSpPr/>
          <p:nvPr/>
        </p:nvSpPr>
        <p:spPr>
          <a:xfrm>
            <a:off x="3337836" y="3878224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Read Request senden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FBD84E6-6F36-ADEF-CA5F-71EEB90019D7}"/>
              </a:ext>
            </a:extLst>
          </p:cNvPr>
          <p:cNvSpPr/>
          <p:nvPr/>
        </p:nvSpPr>
        <p:spPr>
          <a:xfrm>
            <a:off x="3328512" y="2229055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 von Eingang 2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8F6FB60-B469-D468-024D-5DCBBAC33F60}"/>
              </a:ext>
            </a:extLst>
          </p:cNvPr>
          <p:cNvSpPr/>
          <p:nvPr/>
        </p:nvSpPr>
        <p:spPr>
          <a:xfrm>
            <a:off x="3337835" y="4390175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Gerät neu starten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E6030204-F974-0FEE-F99F-0EF6A27F7C9B}"/>
              </a:ext>
            </a:extLst>
          </p:cNvPr>
          <p:cNvSpPr/>
          <p:nvPr/>
        </p:nvSpPr>
        <p:spPr>
          <a:xfrm>
            <a:off x="3328512" y="2741005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 eines KO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5D62D2E-17D4-29EC-70D7-2CE67C253B34}"/>
              </a:ext>
            </a:extLst>
          </p:cNvPr>
          <p:cNvSpPr/>
          <p:nvPr/>
        </p:nvSpPr>
        <p:spPr>
          <a:xfrm>
            <a:off x="3337835" y="1208902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Wert vorgeben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1406CA4-CCB6-0DFA-D6B8-F96B6A0AD417}"/>
              </a:ext>
            </a:extLst>
          </p:cNvPr>
          <p:cNvSpPr/>
          <p:nvPr/>
        </p:nvSpPr>
        <p:spPr>
          <a:xfrm>
            <a:off x="5702936" y="1208902"/>
            <a:ext cx="321989" cy="2486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Generischer DPT-Wandler</a:t>
            </a:r>
          </a:p>
        </p:txBody>
      </p:sp>
      <p:cxnSp>
        <p:nvCxnSpPr>
          <p:cNvPr id="69" name="Gerade Verbindung mit Pfeil 56">
            <a:extLst>
              <a:ext uri="{FF2B5EF4-FFF2-40B4-BE49-F238E27FC236}">
                <a16:creationId xmlns:a16="http://schemas.microsoft.com/office/drawing/2014/main" id="{B6C38512-911A-2379-3EB8-8A98915F37F3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2949451" y="1934002"/>
            <a:ext cx="247368" cy="0"/>
          </a:xfrm>
          <a:prstGeom prst="straightConnector1">
            <a:avLst/>
          </a:prstGeom>
          <a:ln w="38100" cmpd="sng"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feld 109">
            <a:extLst>
              <a:ext uri="{FF2B5EF4-FFF2-40B4-BE49-F238E27FC236}">
                <a16:creationId xmlns:a16="http://schemas.microsoft.com/office/drawing/2014/main" id="{D6ACF8EE-667F-787B-E0AD-84428E9B7EDC}"/>
              </a:ext>
            </a:extLst>
          </p:cNvPr>
          <p:cNvSpPr txBox="1"/>
          <p:nvPr/>
        </p:nvSpPr>
        <p:spPr>
          <a:xfrm>
            <a:off x="6379012" y="4891428"/>
            <a:ext cx="1284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Geräteinterne </a:t>
            </a:r>
          </a:p>
          <a:p>
            <a:r>
              <a:rPr lang="de-DE" sz="1200" dirty="0"/>
              <a:t>Aktion</a:t>
            </a:r>
          </a:p>
        </p:txBody>
      </p: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34042110-BAEA-C417-FC94-B15D37F2710D}"/>
              </a:ext>
            </a:extLst>
          </p:cNvPr>
          <p:cNvCxnSpPr>
            <a:cxnSpLocks/>
          </p:cNvCxnSpPr>
          <p:nvPr/>
        </p:nvCxnSpPr>
        <p:spPr>
          <a:xfrm>
            <a:off x="5423010" y="1417599"/>
            <a:ext cx="279926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18E1E3CA-047E-EEB3-3D90-FE7558D02DA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413687" y="1937362"/>
            <a:ext cx="279918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Gerade Verbindung mit Pfeil 159">
            <a:extLst>
              <a:ext uri="{FF2B5EF4-FFF2-40B4-BE49-F238E27FC236}">
                <a16:creationId xmlns:a16="http://schemas.microsoft.com/office/drawing/2014/main" id="{C0A1456A-B35D-8261-DEED-DD3668D911C7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5413687" y="2450294"/>
            <a:ext cx="279918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Gerade Verbindung mit Pfeil 162">
            <a:extLst>
              <a:ext uri="{FF2B5EF4-FFF2-40B4-BE49-F238E27FC236}">
                <a16:creationId xmlns:a16="http://schemas.microsoft.com/office/drawing/2014/main" id="{D0898DA8-FC3F-4920-FCEB-BEA367A38ED3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5413687" y="2962244"/>
            <a:ext cx="279921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Gerade Verbindung mit Pfeil 163">
            <a:extLst>
              <a:ext uri="{FF2B5EF4-FFF2-40B4-BE49-F238E27FC236}">
                <a16:creationId xmlns:a16="http://schemas.microsoft.com/office/drawing/2014/main" id="{C4465CF7-9085-4E39-FA39-4D8CB1EFB89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413687" y="3474194"/>
            <a:ext cx="279921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Gerade Verbindung mit Pfeil 164">
            <a:extLst>
              <a:ext uri="{FF2B5EF4-FFF2-40B4-BE49-F238E27FC236}">
                <a16:creationId xmlns:a16="http://schemas.microsoft.com/office/drawing/2014/main" id="{F0F71395-B682-20EB-C99C-DE36A6E79A9E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423011" y="3046220"/>
            <a:ext cx="2271082" cy="1053243"/>
          </a:xfrm>
          <a:prstGeom prst="bentConnector3">
            <a:avLst>
              <a:gd name="adj1" fmla="val 100123"/>
            </a:avLst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8C3E6FB6-02E0-EC67-84DA-0C344C8FCE88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5423010" y="3057852"/>
            <a:ext cx="2279143" cy="1553562"/>
          </a:xfrm>
          <a:prstGeom prst="bentConnector3">
            <a:avLst>
              <a:gd name="adj1" fmla="val 99942"/>
            </a:avLst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866F2E11-31B0-77B9-E574-FF22FAEC7062}"/>
              </a:ext>
            </a:extLst>
          </p:cNvPr>
          <p:cNvSpPr/>
          <p:nvPr/>
        </p:nvSpPr>
        <p:spPr>
          <a:xfrm>
            <a:off x="3337835" y="4904426"/>
            <a:ext cx="2085175" cy="442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Status LED schalten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0CF44E1-7FDB-5E9F-92F5-72F0E2CC7F15}"/>
              </a:ext>
            </a:extLst>
          </p:cNvPr>
          <p:cNvSpPr/>
          <p:nvPr/>
        </p:nvSpPr>
        <p:spPr>
          <a:xfrm>
            <a:off x="2466188" y="3473800"/>
            <a:ext cx="483263" cy="14501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AUS-Selektor</a:t>
            </a:r>
          </a:p>
        </p:txBody>
      </p:sp>
      <p:cxnSp>
        <p:nvCxnSpPr>
          <p:cNvPr id="27" name="Gerade Verbindung mit Pfeil 56">
            <a:extLst>
              <a:ext uri="{FF2B5EF4-FFF2-40B4-BE49-F238E27FC236}">
                <a16:creationId xmlns:a16="http://schemas.microsoft.com/office/drawing/2014/main" id="{69AEFCE5-34C9-1A45-8780-E2B518401A6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2949451" y="4198899"/>
            <a:ext cx="246692" cy="1"/>
          </a:xfrm>
          <a:prstGeom prst="straightConnector1">
            <a:avLst/>
          </a:prstGeom>
          <a:ln w="38100" cmpd="sng"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2">
            <a:extLst>
              <a:ext uri="{FF2B5EF4-FFF2-40B4-BE49-F238E27FC236}">
                <a16:creationId xmlns:a16="http://schemas.microsoft.com/office/drawing/2014/main" id="{5D5AC591-6509-A3D1-273E-5E15C0B296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76364" y="3467003"/>
            <a:ext cx="1298371" cy="279924"/>
          </a:xfrm>
          <a:prstGeom prst="bentConnector2">
            <a:avLst/>
          </a:prstGeom>
          <a:ln w="38100" cmpd="sng">
            <a:headEnd type="oval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6FDCBD9E-B0B9-8102-9F52-4F0E9A38ED47}"/>
              </a:ext>
            </a:extLst>
          </p:cNvPr>
          <p:cNvSpPr/>
          <p:nvPr/>
        </p:nvSpPr>
        <p:spPr>
          <a:xfrm>
            <a:off x="6273248" y="1218662"/>
            <a:ext cx="482984" cy="2486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Sendefilter</a:t>
            </a:r>
          </a:p>
          <a:p>
            <a:pPr algn="ctr"/>
            <a:r>
              <a:rPr lang="de-DE" sz="1400" dirty="0">
                <a:solidFill>
                  <a:schemeClr val="tx1"/>
                </a:solidFill>
              </a:rPr>
              <a:t>(send on </a:t>
            </a:r>
            <a:r>
              <a:rPr lang="de-DE" sz="1400" dirty="0" err="1">
                <a:solidFill>
                  <a:schemeClr val="tx1"/>
                </a:solidFill>
              </a:rPr>
              <a:t>change</a:t>
            </a:r>
            <a:r>
              <a:rPr lang="de-DE" sz="1400" dirty="0">
                <a:solidFill>
                  <a:schemeClr val="tx1"/>
                </a:solidFill>
              </a:rPr>
              <a:t>)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37E868BD-B2FE-7C40-2FC6-2D152CEA8041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>
            <a:off x="6024925" y="2452167"/>
            <a:ext cx="248323" cy="976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651587BD-980A-2235-F9EA-D79AA9C2EA1F}"/>
              </a:ext>
            </a:extLst>
          </p:cNvPr>
          <p:cNvCxnSpPr>
            <a:cxnSpLocks/>
          </p:cNvCxnSpPr>
          <p:nvPr/>
        </p:nvCxnSpPr>
        <p:spPr>
          <a:xfrm>
            <a:off x="7507951" y="1802954"/>
            <a:ext cx="712318" cy="0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6119A6FA-8813-B0F4-9B7E-FB65BFD1F5D6}"/>
              </a:ext>
            </a:extLst>
          </p:cNvPr>
          <p:cNvCxnSpPr>
            <a:cxnSpLocks/>
            <a:stCxn id="14" idx="3"/>
            <a:endCxn id="110" idx="1"/>
          </p:cNvCxnSpPr>
          <p:nvPr/>
        </p:nvCxnSpPr>
        <p:spPr>
          <a:xfrm flipV="1">
            <a:off x="5423010" y="5122261"/>
            <a:ext cx="956002" cy="3404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7F46CD2D-DFBC-0D7F-EAA9-2F54E3C2F23C}"/>
              </a:ext>
            </a:extLst>
          </p:cNvPr>
          <p:cNvSpPr/>
          <p:nvPr/>
        </p:nvSpPr>
        <p:spPr>
          <a:xfrm>
            <a:off x="7004555" y="1218662"/>
            <a:ext cx="483263" cy="24865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anchorCtr="0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KO-Selektor</a:t>
            </a: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CBB10B20-3FD2-AE07-7F0E-D0AD7285C76E}"/>
              </a:ext>
            </a:extLst>
          </p:cNvPr>
          <p:cNvCxnSpPr>
            <a:cxnSpLocks/>
            <a:stCxn id="44" idx="3"/>
            <a:endCxn id="61" idx="1"/>
          </p:cNvCxnSpPr>
          <p:nvPr/>
        </p:nvCxnSpPr>
        <p:spPr>
          <a:xfrm>
            <a:off x="6756232" y="2461927"/>
            <a:ext cx="248323" cy="0"/>
          </a:xfrm>
          <a:prstGeom prst="straightConnector1">
            <a:avLst/>
          </a:prstGeom>
          <a:ln w="38100" cmpd="sng">
            <a:headEnd type="none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C12E4153-38F0-CF39-DD01-475BA2E9DBFA}"/>
              </a:ext>
            </a:extLst>
          </p:cNvPr>
          <p:cNvCxnSpPr>
            <a:cxnSpLocks/>
          </p:cNvCxnSpPr>
          <p:nvPr/>
        </p:nvCxnSpPr>
        <p:spPr>
          <a:xfrm flipV="1">
            <a:off x="7487818" y="3014977"/>
            <a:ext cx="732451" cy="5256"/>
          </a:xfrm>
          <a:prstGeom prst="straightConnector1">
            <a:avLst/>
          </a:prstGeom>
          <a:ln w="38100" cmpd="sng"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feld 84">
            <a:extLst>
              <a:ext uri="{FF2B5EF4-FFF2-40B4-BE49-F238E27FC236}">
                <a16:creationId xmlns:a16="http://schemas.microsoft.com/office/drawing/2014/main" id="{EB2D78B7-221D-B53D-0974-9CFDDB720049}"/>
              </a:ext>
            </a:extLst>
          </p:cNvPr>
          <p:cNvSpPr txBox="1"/>
          <p:nvPr/>
        </p:nvSpPr>
        <p:spPr>
          <a:xfrm>
            <a:off x="7854043" y="2720708"/>
            <a:ext cx="10214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Eigenes KO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5F0632D7-631C-9287-2DA7-92E1F18BFE81}"/>
              </a:ext>
            </a:extLst>
          </p:cNvPr>
          <p:cNvSpPr txBox="1"/>
          <p:nvPr/>
        </p:nvSpPr>
        <p:spPr>
          <a:xfrm>
            <a:off x="7854043" y="1518816"/>
            <a:ext cx="1334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Verknüpftes KO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0E047A60-D2A3-EE32-5A4C-7B80EC8BE7DA}"/>
              </a:ext>
            </a:extLst>
          </p:cNvPr>
          <p:cNvSpPr txBox="1"/>
          <p:nvPr/>
        </p:nvSpPr>
        <p:spPr>
          <a:xfrm>
            <a:off x="158831" y="2659101"/>
            <a:ext cx="19306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Von Signalverarbeitung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CE3FEA46-FD15-17DF-69BF-88F67DA11647}"/>
              </a:ext>
            </a:extLst>
          </p:cNvPr>
          <p:cNvSpPr txBox="1"/>
          <p:nvPr/>
        </p:nvSpPr>
        <p:spPr>
          <a:xfrm>
            <a:off x="304756" y="1052483"/>
            <a:ext cx="1786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Zugriff auf weitere KO</a:t>
            </a:r>
          </a:p>
        </p:txBody>
      </p:sp>
    </p:spTree>
    <p:extLst>
      <p:ext uri="{BB962C8B-B14F-4D97-AF65-F5344CB8AC3E}">
        <p14:creationId xmlns:p14="http://schemas.microsoft.com/office/powerpoint/2010/main" val="1567320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337</Words>
  <Application>Microsoft Office PowerPoint</Application>
  <PresentationFormat>Breitbild</PresentationFormat>
  <Paragraphs>116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Century Gothic</vt:lpstr>
      <vt:lpstr>Wingdings 3</vt:lpstr>
      <vt:lpstr>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 P</dc:creator>
  <cp:lastModifiedBy>W P</cp:lastModifiedBy>
  <cp:revision>7</cp:revision>
  <dcterms:created xsi:type="dcterms:W3CDTF">2026-05-12T07:49:32Z</dcterms:created>
  <dcterms:modified xsi:type="dcterms:W3CDTF">2026-05-13T11:18:01Z</dcterms:modified>
</cp:coreProperties>
</file>